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4572000" cy="4572000"/>
          </a:xfrm>
          <a:prstGeom prst="ellipse">
            <a:avLst/>
          </a:prstGeom>
          <a:solidFill>
            <a:srgbClr val="06B6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38BDF8">
              <a:alpha val="8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097280"/>
            <a:ext cx="54864" cy="2560320"/>
          </a:xfrm>
          <a:prstGeom prst="rect">
            <a:avLst/>
          </a:prstGeom>
          <a:solidFill>
            <a:srgbClr val="06B6A0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097280"/>
            <a:ext cx="6400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Harness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05840" y="2880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6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从零构建生产级 AI Agent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34290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动手实操  |  6 个递进式实验  |  约 3 小时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3931920"/>
            <a:ext cx="5029200" cy="640080"/>
          </a:xfrm>
          <a:prstGeom prst="rect">
            <a:avLst/>
          </a:prstGeom>
          <a:solidFill>
            <a:srgbClr val="162032"/>
          </a:solidFill>
          <a:ln w="9525">
            <a:solidFill>
              <a:srgbClr val="2A3A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9319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核心洞察：  </a:t>
            </a:r>
            <a:pPr algn="ctr" indent="0" marL="0">
              <a:buNone/>
            </a:pPr>
            <a:r>
              <a:rPr lang="en-US" sz="1500" b="1" dirty="0">
                <a:solidFill>
                  <a:srgbClr val="06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 =  模型  +  Harness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384048"/>
            <a:ext cx="128016" cy="128016"/>
          </a:xfrm>
          <a:prstGeom prst="ellipse">
            <a:avLst/>
          </a:prstGeom>
          <a:solidFill>
            <a:srgbClr val="06B6A0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六层架构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82296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将原始大模型转化为可靠的生产级 Agent 的六个核心层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234440"/>
            <a:ext cx="3840480" cy="914400"/>
          </a:xfrm>
          <a:prstGeom prst="rect">
            <a:avLst/>
          </a:prstGeom>
          <a:solidFill>
            <a:srgbClr val="162032"/>
          </a:solidFill>
          <a:ln w="6350">
            <a:solidFill>
              <a:srgbClr val="2A3A5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417320"/>
            <a:ext cx="548640" cy="548640"/>
          </a:xfrm>
          <a:prstGeom prst="ellipse">
            <a:avLst/>
          </a:prstGeom>
          <a:solidFill>
            <a:srgbClr val="1C2A4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2704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0876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6B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提示与引导层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50876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系统提示词、钩子、行为规则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46320" y="1234440"/>
            <a:ext cx="3840480" cy="914400"/>
          </a:xfrm>
          <a:prstGeom prst="rect">
            <a:avLst/>
          </a:prstGeom>
          <a:solidFill>
            <a:srgbClr val="162032"/>
          </a:solidFill>
          <a:ln w="6350">
            <a:solidFill>
              <a:srgbClr val="2A3A5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0" y="1417320"/>
            <a:ext cx="548640" cy="548640"/>
          </a:xfrm>
          <a:prstGeom prst="ellipse">
            <a:avLst/>
          </a:prstGeom>
          <a:solidFill>
            <a:srgbClr val="1C2A4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928" y="152704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工具与执行层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571500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统一工具接口、沙箱执行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350008"/>
            <a:ext cx="3840480" cy="914400"/>
          </a:xfrm>
          <a:prstGeom prst="rect">
            <a:avLst/>
          </a:prstGeom>
          <a:solidFill>
            <a:srgbClr val="162032"/>
          </a:solidFill>
          <a:ln w="6350">
            <a:solidFill>
              <a:srgbClr val="2A3A52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2532888"/>
            <a:ext cx="548640" cy="548640"/>
          </a:xfrm>
          <a:prstGeom prst="ellipse">
            <a:avLst/>
          </a:prstGeom>
          <a:solidFill>
            <a:srgbClr val="1C2A4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642616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安全与验证层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50876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权限中间件、人机协同、自动测试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846320" y="2350008"/>
            <a:ext cx="3840480" cy="914400"/>
          </a:xfrm>
          <a:prstGeom prst="rect">
            <a:avLst/>
          </a:prstGeom>
          <a:solidFill>
            <a:srgbClr val="162032"/>
          </a:solidFill>
          <a:ln w="6350">
            <a:solidFill>
              <a:srgbClr val="2A3A5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5029200" y="2532888"/>
            <a:ext cx="548640" cy="548640"/>
          </a:xfrm>
          <a:prstGeom prst="ellipse">
            <a:avLst/>
          </a:prstGeom>
          <a:solidFill>
            <a:srgbClr val="1C2A4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8928" y="2642616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715000" y="248716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72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上下文与记忆层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71500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微压缩、会话持久化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640080" y="3465576"/>
            <a:ext cx="3840480" cy="914400"/>
          </a:xfrm>
          <a:prstGeom prst="rect">
            <a:avLst/>
          </a:prstGeom>
          <a:solidFill>
            <a:srgbClr val="162032"/>
          </a:solidFill>
          <a:ln w="6350">
            <a:solidFill>
              <a:srgbClr val="2A3A52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822960" y="3648456"/>
            <a:ext cx="548640" cy="548640"/>
          </a:xfrm>
          <a:prstGeom prst="ellipse">
            <a:avLst/>
          </a:prstGeom>
          <a:solidFill>
            <a:srgbClr val="1C2A4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758184"/>
            <a:ext cx="329184" cy="32918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508760" y="3602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规划与协调层</a:t>
            </a:r>
            <a:endParaRPr lang="en-US" sz="1100" dirty="0"/>
          </a:p>
        </p:txBody>
      </p:sp>
      <p:sp>
        <p:nvSpPr>
          <p:cNvPr id="29" name="Text 22"/>
          <p:cNvSpPr/>
          <p:nvPr/>
        </p:nvSpPr>
        <p:spPr>
          <a:xfrm>
            <a:off x="1508760" y="3968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任务分解、多 Agent 调度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4846320" y="3465576"/>
            <a:ext cx="3840480" cy="914400"/>
          </a:xfrm>
          <a:prstGeom prst="rect">
            <a:avLst/>
          </a:prstGeom>
          <a:solidFill>
            <a:srgbClr val="162032"/>
          </a:solidFill>
          <a:ln w="6350">
            <a:solidFill>
              <a:srgbClr val="2A3A52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029200" y="3648456"/>
            <a:ext cx="548640" cy="548640"/>
          </a:xfrm>
          <a:prstGeom prst="ellipse">
            <a:avLst/>
          </a:prstGeom>
          <a:solidFill>
            <a:srgbClr val="1C2A42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38928" y="3758184"/>
            <a:ext cx="329184" cy="329184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715000" y="360273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状态与持久层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5715000" y="3968496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工作区存储、产物管理</a:t>
            </a:r>
            <a:endParaRPr lang="en-US" sz="1100" dirty="0"/>
          </a:p>
        </p:txBody>
      </p:sp>
      <p:sp>
        <p:nvSpPr>
          <p:cNvPr id="35" name="Shape 27"/>
          <p:cNvSpPr/>
          <p:nvPr/>
        </p:nvSpPr>
        <p:spPr>
          <a:xfrm>
            <a:off x="640080" y="4434840"/>
            <a:ext cx="7863840" cy="36576"/>
          </a:xfrm>
          <a:prstGeom prst="rect">
            <a:avLst/>
          </a:prstGeom>
          <a:solidFill>
            <a:srgbClr val="06B6A0">
              <a:alpha val="30000"/>
            </a:srgbClr>
          </a:solidFill>
          <a:ln/>
        </p:spPr>
      </p:sp>
      <p:sp>
        <p:nvSpPr>
          <p:cNvPr id="36" name="Text 28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模型能力正在趋同 —— Harness 才是竞争力的分水岭。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06B6A0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提示与引导层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06B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2A3A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06B6A0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裸模型行为不可预测 —— 不遵守项目规范、不理解自身角色、无法拒绝不安全请求。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系统提示词组装（角色 + 规则注入）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CLAUDE.md 项目记忆自动发现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钩子生命周期（PreToolUse / PostToolUse）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后续所有实验的基础 Agent Loop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06B6A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提示词工程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06B6A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项目记忆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06B6A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钩子生命周期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1C2A4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遵循一致的行为规则，在执行前理解项目上下文。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 / 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工具与执行层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2A3A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38BDF8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有引导但无法行动 —— 工具调用只生成文本，无法真正执行文件读写或命令。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统一工具接口（抽象基类）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三个核心工具：ReadFile、WriteFile、Bash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执行流水线：校验 → 执行 → 返回结果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Anthropic API 的 JSON Schema 工具定义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工厂模式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3172968"/>
            <a:ext cx="1426464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28800" y="3172968"/>
            <a:ext cx="14264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 Schema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392424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38BDF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392424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输入校验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1C2A4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获得真正的 '手脚' —— 读写文件、执行 Shell 命令。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/ 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安全与权限层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2A3A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818CF8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能执行操作但零安全检查 —— 如果被要求执行 'rm -rf /'，它会毫不犹豫地执行。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三级权限控制（允许 / 拒绝 / 询问）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Bash 命令分类器 + 模式检测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人机协同（HITL）确认系统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危险模式正则与安全规则引擎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中间件模式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命令分类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63240" y="3172968"/>
            <a:ext cx="1170432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818CF8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63240" y="3172968"/>
            <a:ext cx="11704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HITL 流程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1C2A4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安全执行 —— 'ls' 自动放行，'sudo rm' 需要人工确认。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/ 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F472B6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上下文与记忆层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F472B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7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2A3A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F472B6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长对话导致 Token 爆炸；重启 Agent 后所有状态和上下文全部丢失。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7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微压缩：压缩旧输出、保留近期上下文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估算与上下文窗口管理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项目记忆系统（CLAUDE.md 自动注入）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跨会话知识持久化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298448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2984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 管理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2029968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2029968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上下文压缩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264408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F472B6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64408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47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记忆分层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1C2A4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7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处理长会话不超限，跨重启保留项目知识。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/ 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规划与协调层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2A3A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FBBF24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复杂多步任务迫使单个 Agent 在同一上下文中处理一切 —— 无法分解、委派或并行。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AgentTool：生成独立上下文的子 Agent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任务管理系统（创建 / 列表 / 更新）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SendMessageTool：Agent 间通信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递归生成防护机制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领队模式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上下文隔离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FBBF24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任务追踪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1C2A4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协调 —— 主 Agent 分解任务并调度子 Agent。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/ 6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3" name="Text 1"/>
          <p:cNvSpPr/>
          <p:nvPr/>
        </p:nvSpPr>
        <p:spPr>
          <a:xfrm>
            <a:off x="594360" y="292608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12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6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508760" y="256032"/>
            <a:ext cx="5486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状态与持久层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solidFill>
            <a:srgbClr val="162032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0" y="320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 分钟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94360" y="777240"/>
            <a:ext cx="8092440" cy="18288"/>
          </a:xfrm>
          <a:prstGeom prst="rect">
            <a:avLst/>
          </a:prstGeom>
          <a:solidFill>
            <a:srgbClr val="2A3A5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051560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4183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痛点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94360" y="1417320"/>
            <a:ext cx="397764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1" name="Shape 8"/>
          <p:cNvSpPr/>
          <p:nvPr/>
        </p:nvSpPr>
        <p:spPr>
          <a:xfrm>
            <a:off x="594360" y="1417320"/>
            <a:ext cx="45720" cy="1097280"/>
          </a:xfrm>
          <a:prstGeom prst="rect">
            <a:avLst/>
          </a:prstGeom>
          <a:solidFill>
            <a:srgbClr val="34D399">
              <a:alpha val="5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1508760"/>
            <a:ext cx="3611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退出程序后一切丢失 —— 对话历史、任务进度、所有累积的上下文全部消失。</a:t>
            </a:r>
            <a:endParaRPr lang="en-US" sz="12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051560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193792" y="10332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你将构建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4846320" y="1417320"/>
            <a:ext cx="3840480" cy="10972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Text 12"/>
          <p:cNvSpPr/>
          <p:nvPr/>
        </p:nvSpPr>
        <p:spPr>
          <a:xfrm>
            <a:off x="5029200" y="1490472"/>
            <a:ext cx="35204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SessionStore：消息历史持久化为 JSON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恢复机制：无缝加载历史会话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回退能力：回滚到更早的对话状态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UUID 会话 ID + 文件检查点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94360" y="28803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关键概念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9436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会话快照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82880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消息序列化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solidFill>
            <a:srgbClr val="1C2A42"/>
          </a:solidFill>
          <a:ln w="6350">
            <a:solidFill>
              <a:srgbClr val="34D399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063240" y="31729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恢复流程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594360" y="3840480"/>
            <a:ext cx="8092440" cy="548640"/>
          </a:xfrm>
          <a:prstGeom prst="rect">
            <a:avLst/>
          </a:prstGeom>
          <a:solidFill>
            <a:srgbClr val="1C2A42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968496"/>
            <a:ext cx="274320" cy="27432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097280" y="384048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成果：</a:t>
            </a:r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 Mini Harness —— Agent 可恢复中断的工作并回滚错误。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8046720" y="4709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/ 6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1828800"/>
            <a:ext cx="4572000" cy="4572000"/>
          </a:xfrm>
          <a:prstGeom prst="ellipse">
            <a:avLst/>
          </a:prstGeom>
          <a:solidFill>
            <a:srgbClr val="06B6A0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594360" y="384048"/>
            <a:ext cx="128016" cy="128016"/>
          </a:xfrm>
          <a:prstGeom prst="ellipse">
            <a:avLst/>
          </a:prstGeom>
          <a:solidFill>
            <a:srgbClr val="06B6A0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743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工作坊总结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71323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从裸模型到生产级 Agent，6 步递进式构建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932688" y="1536192"/>
            <a:ext cx="18288" cy="457200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280160"/>
            <a:ext cx="237744" cy="237744"/>
          </a:xfrm>
          <a:prstGeom prst="ellipse">
            <a:avLst/>
          </a:prstGeom>
          <a:solidFill>
            <a:srgbClr val="06B6A0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2801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188720" y="12618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提示与钩子 —— 行为控制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32688" y="2011680"/>
            <a:ext cx="18288" cy="457200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11" name="Shape 9"/>
          <p:cNvSpPr/>
          <p:nvPr/>
        </p:nvSpPr>
        <p:spPr>
          <a:xfrm>
            <a:off x="822960" y="1755648"/>
            <a:ext cx="237744" cy="237744"/>
          </a:xfrm>
          <a:prstGeom prst="ellipse">
            <a:avLst/>
          </a:prstGeom>
          <a:solidFill>
            <a:srgbClr val="38BDF8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1755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88720" y="1737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工具执行 —— 真实操作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932688" y="2487168"/>
            <a:ext cx="18288" cy="457200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2231136"/>
            <a:ext cx="237744" cy="237744"/>
          </a:xfrm>
          <a:prstGeom prst="ellipse">
            <a:avLst/>
          </a:prstGeom>
          <a:solidFill>
            <a:srgbClr val="818CF8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2311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8872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安全层 —— 权限与人机协同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932688" y="2962656"/>
            <a:ext cx="18288" cy="457200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706624"/>
            <a:ext cx="237744" cy="237744"/>
          </a:xfrm>
          <a:prstGeom prst="ellipse">
            <a:avLst/>
          </a:prstGeom>
          <a:solidFill>
            <a:srgbClr val="F472B6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7066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88720" y="268833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上下文与记忆 —— 长会话支持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932688" y="3438144"/>
            <a:ext cx="18288" cy="457200"/>
          </a:xfrm>
          <a:prstGeom prst="rect">
            <a:avLst/>
          </a:prstGeom>
          <a:solidFill>
            <a:srgbClr val="2A3A52"/>
          </a:solidFill>
          <a:ln/>
        </p:spPr>
      </p:sp>
      <p:sp>
        <p:nvSpPr>
          <p:cNvPr id="23" name="Shape 21"/>
          <p:cNvSpPr/>
          <p:nvPr/>
        </p:nvSpPr>
        <p:spPr>
          <a:xfrm>
            <a:off x="822960" y="3182112"/>
            <a:ext cx="237744" cy="237744"/>
          </a:xfrm>
          <a:prstGeom prst="ellipse">
            <a:avLst/>
          </a:prstGeom>
          <a:solidFill>
            <a:srgbClr val="FBBF24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3182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88720" y="31638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 Agent —— 分解与委派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822960" y="3657600"/>
            <a:ext cx="237744" cy="237744"/>
          </a:xfrm>
          <a:prstGeom prst="ellipse">
            <a:avLst/>
          </a:prstGeom>
          <a:solidFill>
            <a:srgbClr val="34D399"/>
          </a:solidFill>
          <a:ln/>
        </p:spPr>
      </p:sp>
      <p:sp>
        <p:nvSpPr>
          <p:cNvPr id="27" name="Text 25"/>
          <p:cNvSpPr/>
          <p:nvPr/>
        </p:nvSpPr>
        <p:spPr>
          <a:xfrm>
            <a:off x="822960" y="36576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1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88720" y="36393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 —— 恢复与回退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0" y="1280160"/>
            <a:ext cx="1828800" cy="914400"/>
          </a:xfrm>
          <a:prstGeom prst="rect">
            <a:avLst/>
          </a:prstGeom>
          <a:solidFill>
            <a:srgbClr val="162032"/>
          </a:solidFill>
          <a:ln w="6350">
            <a:solidFill>
              <a:srgbClr val="2A3A5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~3 小时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502920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总时长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040880" y="1280160"/>
            <a:ext cx="1828800" cy="914400"/>
          </a:xfrm>
          <a:prstGeom prst="rect">
            <a:avLst/>
          </a:prstGeom>
          <a:solidFill>
            <a:srgbClr val="162032"/>
          </a:solidFill>
          <a:ln w="6350">
            <a:solidFill>
              <a:srgbClr val="2A3A5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40880" y="13716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8BD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个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7040880" y="1828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动手实验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029200" y="2377440"/>
            <a:ext cx="1828800" cy="914400"/>
          </a:xfrm>
          <a:prstGeom prst="rect">
            <a:avLst/>
          </a:prstGeom>
          <a:solidFill>
            <a:srgbClr val="162032"/>
          </a:solidFill>
          <a:ln w="6350">
            <a:solidFill>
              <a:srgbClr val="2A3A5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818CF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2600" dirty="0"/>
          </a:p>
        </p:txBody>
      </p:sp>
      <p:sp>
        <p:nvSpPr>
          <p:cNvPr id="37" name="Text 35"/>
          <p:cNvSpPr/>
          <p:nvPr/>
        </p:nvSpPr>
        <p:spPr>
          <a:xfrm>
            <a:off x="502920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实现语言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40880" y="2377440"/>
            <a:ext cx="1828800" cy="914400"/>
          </a:xfrm>
          <a:prstGeom prst="rect">
            <a:avLst/>
          </a:prstGeom>
          <a:solidFill>
            <a:srgbClr val="162032"/>
          </a:solidFill>
          <a:ln w="6350">
            <a:solidFill>
              <a:srgbClr val="2A3A5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40880" y="24688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72B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7040880" y="29260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实操导向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594360" y="4160520"/>
            <a:ext cx="8092440" cy="548640"/>
          </a:xfrm>
          <a:prstGeom prst="rect">
            <a:avLst/>
          </a:prstGeom>
          <a:solidFill>
            <a:srgbClr val="1C2A42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4160520"/>
            <a:ext cx="8092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模型是大脑。</a:t>
            </a:r>
            <a:pPr algn="ctr" indent="0" marL="0">
              <a:buNone/>
            </a:pPr>
            <a:r>
              <a:rPr lang="en-US" sz="1400" b="1" dirty="0">
                <a:solidFill>
                  <a:srgbClr val="06B6A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 是其他一切。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Harness 工作坊</dc:title>
  <dc:subject>PptxGenJS Presentation</dc:subject>
  <dc:creator>Agent Harness Workshop</dc:creator>
  <cp:lastModifiedBy>Agent Harness Workshop</cp:lastModifiedBy>
  <cp:revision>1</cp:revision>
  <dcterms:created xsi:type="dcterms:W3CDTF">2026-04-06T09:40:50Z</dcterms:created>
  <dcterms:modified xsi:type="dcterms:W3CDTF">2026-04-06T09:40:50Z</dcterms:modified>
</cp:coreProperties>
</file>