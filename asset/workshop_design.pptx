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57200"/>
            <a:ext cx="36576" cy="1097280"/>
          </a:xfrm>
          <a:prstGeom prst="rect">
            <a:avLst/>
          </a:prstGeom>
          <a:solidFill>
            <a:srgbClr val="C8956C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Workshop 设计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核心理念：痛点驱动的递进建造 — 6 Lab 对齐 6 层架构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600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9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不是讲理论，而是让你亲手从零搭建一个 Mini Harness。6 个 Lab 分别对应 Harness 六层核心组件，每个 Lab 暴露一个真实痛点，然后用一层 Harness 解决它。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350008"/>
            <a:ext cx="329184" cy="329184"/>
          </a:xfrm>
          <a:prstGeom prst="ellipse">
            <a:avLst/>
          </a:prstGeom>
          <a:solidFill>
            <a:srgbClr val="C8956C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350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9808" y="2679192"/>
            <a:ext cx="18288" cy="109728"/>
          </a:xfrm>
          <a:prstGeom prst="rect">
            <a:avLst/>
          </a:prstGeom>
          <a:solidFill>
            <a:srgbClr val="3D3330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3317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提示与引导层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34640" y="23317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56C"/>
                </a:solidFill>
              </a:rPr>
              <a:t>痛点  </a:t>
            </a:r>
            <a:pPr indent="0" marL="0">
              <a:buNone/>
            </a:pPr>
            <a:r>
              <a:rPr lang="en-US" sz="1000" dirty="0">
                <a:solidFill>
                  <a:srgbClr val="9C9088"/>
                </a:solidFill>
              </a:rPr>
              <a:t>裸 LLM 无规则，行为混乱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0" y="2331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3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有了引导，但说了做不了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94360" y="2807208"/>
            <a:ext cx="329184" cy="329184"/>
          </a:xfrm>
          <a:prstGeom prst="ellipse">
            <a:avLst/>
          </a:prstGeom>
          <a:solidFill>
            <a:srgbClr val="C8956C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807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9808" y="3136392"/>
            <a:ext cx="18288" cy="109728"/>
          </a:xfrm>
          <a:prstGeom prst="rect">
            <a:avLst/>
          </a:prstGeom>
          <a:solidFill>
            <a:srgbClr val="3D3330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27889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工具与执行层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34640" y="27889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56C"/>
                </a:solidFill>
              </a:rPr>
              <a:t>痛点  </a:t>
            </a:r>
            <a:pPr indent="0" marL="0">
              <a:buNone/>
            </a:pPr>
            <a:r>
              <a:rPr lang="en-US" sz="1000" dirty="0">
                <a:solidFill>
                  <a:srgbClr val="9C9088"/>
                </a:solidFill>
              </a:rPr>
              <a:t>能做了，但不安全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32320" y="27889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3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能执行，但没有安全检查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94360" y="3264408"/>
            <a:ext cx="329184" cy="329184"/>
          </a:xfrm>
          <a:prstGeom prst="ellipse">
            <a:avLst/>
          </a:prstGeom>
          <a:solidFill>
            <a:srgbClr val="C8956C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264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9808" y="3593592"/>
            <a:ext cx="18288" cy="109728"/>
          </a:xfrm>
          <a:prstGeom prst="rect">
            <a:avLst/>
          </a:prstGeom>
          <a:solidFill>
            <a:srgbClr val="3D3330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32461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验证与安全层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34640" y="32461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56C"/>
                </a:solidFill>
              </a:rPr>
              <a:t>痛点  </a:t>
            </a:r>
            <a:pPr indent="0" marL="0">
              <a:buNone/>
            </a:pPr>
            <a:r>
              <a:rPr lang="en-US" sz="1000" dirty="0">
                <a:solidFill>
                  <a:srgbClr val="9C9088"/>
                </a:solidFill>
              </a:rPr>
              <a:t>安全了，但长对话爆 token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32320" y="32461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3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安全了，但记忆有限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94360" y="3721608"/>
            <a:ext cx="329184" cy="329184"/>
          </a:xfrm>
          <a:prstGeom prst="ellipse">
            <a:avLst/>
          </a:prstGeom>
          <a:solidFill>
            <a:srgbClr val="C8956C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721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49808" y="4050792"/>
            <a:ext cx="18288" cy="109728"/>
          </a:xfrm>
          <a:prstGeom prst="rect">
            <a:avLst/>
          </a:prstGeom>
          <a:solidFill>
            <a:srgbClr val="3D3330"/>
          </a:solidFill>
          <a:ln/>
        </p:spPr>
      </p:sp>
      <p:sp>
        <p:nvSpPr>
          <p:cNvPr id="27" name="Text 25"/>
          <p:cNvSpPr/>
          <p:nvPr/>
        </p:nvSpPr>
        <p:spPr>
          <a:xfrm>
            <a:off x="1051560" y="37033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上下文与内存层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834640" y="37033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56C"/>
                </a:solidFill>
              </a:rPr>
              <a:t>痛点  </a:t>
            </a:r>
            <a:pPr indent="0" marL="0">
              <a:buNone/>
            </a:pPr>
            <a:r>
              <a:rPr lang="en-US" sz="1000" dirty="0">
                <a:solidFill>
                  <a:srgbClr val="9C9088"/>
                </a:solidFill>
              </a:rPr>
              <a:t>记忆管好了，但复杂任务忙不过来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32320" y="3703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3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能记忆，但无法分工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94360" y="4178808"/>
            <a:ext cx="329184" cy="329184"/>
          </a:xfrm>
          <a:prstGeom prst="ellipse">
            <a:avLst/>
          </a:prstGeom>
          <a:solidFill>
            <a:srgbClr val="C8956C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4178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49808" y="4507992"/>
            <a:ext cx="18288" cy="109728"/>
          </a:xfrm>
          <a:prstGeom prst="rect">
            <a:avLst/>
          </a:prstGeom>
          <a:solidFill>
            <a:srgbClr val="3D3330"/>
          </a:solidFill>
          <a:ln/>
        </p:spPr>
      </p:sp>
      <p:sp>
        <p:nvSpPr>
          <p:cNvPr id="33" name="Text 31"/>
          <p:cNvSpPr/>
          <p:nvPr/>
        </p:nvSpPr>
        <p:spPr>
          <a:xfrm>
            <a:off x="1051560" y="41605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规划与协调层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834640" y="41605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56C"/>
                </a:solidFill>
              </a:rPr>
              <a:t>痛点  </a:t>
            </a:r>
            <a:pPr indent="0" marL="0">
              <a:buNone/>
            </a:pPr>
            <a:r>
              <a:rPr lang="en-US" sz="1000" dirty="0">
                <a:solidFill>
                  <a:srgbClr val="9C9088"/>
                </a:solidFill>
              </a:rPr>
              <a:t>能协作了，但关掉就丢失一切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32320" y="41605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3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能协作，但无法持久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94360" y="4636008"/>
            <a:ext cx="329184" cy="329184"/>
          </a:xfrm>
          <a:prstGeom prst="ellipse">
            <a:avLst/>
          </a:prstGeom>
          <a:solidFill>
            <a:srgbClr val="C8956C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" y="4636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51560" y="46177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状态与持久层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834640" y="46177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956C"/>
                </a:solidFill>
              </a:rPr>
              <a:t>痛点  </a:t>
            </a:r>
            <a:pPr indent="0" marL="0">
              <a:buNone/>
            </a:pPr>
            <a:r>
              <a:rPr lang="en-US" sz="1000" dirty="0">
                <a:solidFill>
                  <a:srgbClr val="9C9088"/>
                </a:solidFill>
              </a:rPr>
              <a:t>完整 Mini Harness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040880" y="461772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36576" cy="640080"/>
          </a:xfrm>
          <a:prstGeom prst="rect">
            <a:avLst/>
          </a:prstGeom>
          <a:solidFill>
            <a:srgbClr val="C8956C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六个实验模块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804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9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Lab 对齐一层 Harness 架构，附带 Claude Code 源码参考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280160"/>
                <a:gridCol w="2560320"/>
                <a:gridCol w="2286000"/>
                <a:gridCol w="6400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CCC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Lab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CCC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Harness 层级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CCC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你将实现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CCC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对应 Claude Code 源码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CCC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CCC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CCC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提示与引导层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CCC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System prompt 工程 + CLAUDE.md + Hooks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CCC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QueryEngine.ts, memdir/, hooks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CCC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30min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CCC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CCC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工具与执行层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CCC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统一 Tool 接口 + 3 个工具 + 执行管道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CCC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Tool.ts, BashTool/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CCC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35min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CCC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CCC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验证与安全层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CCC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权限中间件 + Bash 分类器 + HITL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CCC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permissions/, bashClassifier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CCC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30min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CCC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CCC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上下文与内存层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CCC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Micro-compaction + 项目记忆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CCC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apiMicrocompact.ts, memdir/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CCC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25min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CCC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CCC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规划与协调层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CCC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AgentTool + 任务管理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CCC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AgentTool/, TaskCreateTool/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CCC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25min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CCC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CCC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状态与持久层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CCC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Session 持久化 + Resume + Rewind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CCC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session persistence, /resume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CCC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20min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3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36576" cy="640080"/>
          </a:xfrm>
          <a:prstGeom prst="rect">
            <a:avLst/>
          </a:prstGeom>
          <a:solidFill>
            <a:srgbClr val="C8956C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65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Lab 的结构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804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9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四步闭环，从痛点到验证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20240" cy="2011680"/>
          </a:xfrm>
          <a:prstGeom prst="roundRect">
            <a:avLst>
              <a:gd name="adj" fmla="val 4762"/>
            </a:avLst>
          </a:prstGeom>
          <a:solidFill>
            <a:srgbClr val="1A1A1A"/>
          </a:solidFill>
          <a:ln w="9525">
            <a:solidFill>
              <a:srgbClr val="3D33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1600200"/>
            <a:ext cx="502920" cy="502920"/>
          </a:xfrm>
          <a:prstGeom prst="ellipse">
            <a:avLst/>
          </a:prstGeom>
          <a:solidFill>
            <a:srgbClr val="C8956C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痛点演示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6060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95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 min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880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9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运行上一个 Lab 的代码，碰到天花板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77440" y="20116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956C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60320" y="1371600"/>
            <a:ext cx="1920240" cy="2011680"/>
          </a:xfrm>
          <a:prstGeom prst="roundRect">
            <a:avLst>
              <a:gd name="adj" fmla="val 4762"/>
            </a:avLst>
          </a:prstGeom>
          <a:solidFill>
            <a:srgbClr val="1A1A1A"/>
          </a:solidFill>
          <a:ln w="9525">
            <a:solidFill>
              <a:srgbClr val="3D33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600200"/>
            <a:ext cx="502920" cy="502920"/>
          </a:xfrm>
          <a:prstGeom prst="ellipse">
            <a:avLst/>
          </a:prstGeom>
          <a:solidFill>
            <a:srgbClr val="C8956C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9748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源码对照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17520" y="26060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95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 min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97480" y="2880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9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 Claude Code 中的真实设计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80560" y="20116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956C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63440" y="1371600"/>
            <a:ext cx="1920240" cy="2011680"/>
          </a:xfrm>
          <a:prstGeom prst="roundRect">
            <a:avLst>
              <a:gd name="adj" fmla="val 4762"/>
            </a:avLst>
          </a:prstGeom>
          <a:solidFill>
            <a:srgbClr val="1A1A1A"/>
          </a:solidFill>
          <a:ln w="9525">
            <a:solidFill>
              <a:srgbClr val="3D33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0" y="1600200"/>
            <a:ext cx="502920" cy="502920"/>
          </a:xfrm>
          <a:prstGeom prst="ellipse">
            <a:avLst/>
          </a:prstGeom>
          <a:solidFill>
            <a:srgbClr val="C8956C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0060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动手编码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20640" y="26060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95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20-30 min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2880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9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Python 写这一层的简化实现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83680" y="20116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956C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766560" y="1371600"/>
            <a:ext cx="1920240" cy="2011680"/>
          </a:xfrm>
          <a:prstGeom prst="roundRect">
            <a:avLst>
              <a:gd name="adj" fmla="val 4762"/>
            </a:avLst>
          </a:prstGeom>
          <a:solidFill>
            <a:srgbClr val="1A1A1A"/>
          </a:solidFill>
          <a:ln w="9525">
            <a:solidFill>
              <a:srgbClr val="3D333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06640" y="1600200"/>
            <a:ext cx="502920" cy="502920"/>
          </a:xfrm>
          <a:prstGeom prst="ellipse">
            <a:avLst/>
          </a:prstGeom>
          <a:solidFill>
            <a:srgbClr val="C8956C"/>
          </a:solidFill>
          <a:ln/>
        </p:spPr>
      </p:sp>
      <p:sp>
        <p:nvSpPr>
          <p:cNvPr id="28" name="Text 26"/>
          <p:cNvSpPr/>
          <p:nvPr/>
        </p:nvSpPr>
        <p:spPr>
          <a:xfrm>
            <a:off x="74066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0372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验证运行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223760" y="26060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956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 min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03720" y="2880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9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运行增强后的 agent，确认问题解决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7490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A1210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" y="3749040"/>
            <a:ext cx="36576" cy="868680"/>
          </a:xfrm>
          <a:prstGeom prst="rect">
            <a:avLst/>
          </a:prstGeom>
          <a:solidFill>
            <a:srgbClr val="C8956C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37947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环境要求  </a:t>
            </a:r>
            <a:pPr indent="0" marL="0">
              <a:buNone/>
            </a:pPr>
            <a:r>
              <a:rPr lang="en-US" sz="1100" dirty="0">
                <a:solidFill>
                  <a:srgbClr val="9C9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3.11+  |  AWS 账户（Amazon Bedrock）  |  Jupyter Notebook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快速开始  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C9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 labs/ → pip install -r requirements.txt → jupyter notebook → 按顺序打开 lab1 ~ lab6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设计</dc:title>
  <dc:subject>PptxGenJS Presentation</dc:subject>
  <dc:creator>Agent Harness Workshop</dc:creator>
  <cp:lastModifiedBy>Agent Harness Workshop</cp:lastModifiedBy>
  <cp:revision>1</cp:revision>
  <dcterms:created xsi:type="dcterms:W3CDTF">2026-04-07T02:03:44Z</dcterms:created>
  <dcterms:modified xsi:type="dcterms:W3CDTF">2026-04-07T02:03:44Z</dcterms:modified>
</cp:coreProperties>
</file>